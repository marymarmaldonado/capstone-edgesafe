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Medium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Roboto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5d530ebc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5d530ebc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31d41edd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31d41ed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1d41edd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1d41edd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1d41edd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31d41edd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1d41edd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31d41edd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28a1980c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28a1980c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1d41eddc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31d41eddc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8a1980c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28a1980c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1d41eddc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31d41eddc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1ded6db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1ded6db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1ded6db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1ded6db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1ded6db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1ded6db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31d41eddc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31d41eddc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8a1980c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28a1980c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1ded6db8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1ded6db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1ded6db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1ded6db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1ded6db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1ded6db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1ded6db8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1ded6db8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31d41eddc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31d41eddc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1ded6db8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1ded6db8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e5d530ebc1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e5d530ebc1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5d530ebc1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5d530ebc1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28a1980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28a1980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hyperlink" Target="https://www.kaggle.com/datasets/abuzarkhaaan/helmetandguntesting?resource=downloa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www.youtube.com/watch?v=yrcrGbai_SI" TargetMode="External"/><Relationship Id="rId4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58" name="Google Shape;58;p13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0" y="3248200"/>
            <a:ext cx="9144000" cy="15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59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Group F: </a:t>
            </a:r>
            <a:r>
              <a:rPr lang="es" sz="159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Andrea Seda, Jessy Andújar, Jorge Marín, Marymar Maldonado</a:t>
            </a:r>
            <a:endParaRPr sz="665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323750" y="1398775"/>
            <a:ext cx="6496500" cy="180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1851900" y="1398775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edium"/>
                <a:ea typeface="Roboto Medium"/>
                <a:cs typeface="Roboto Medium"/>
                <a:sym typeface="Roboto Medium"/>
              </a:rPr>
              <a:t>EdgeSafe</a:t>
            </a:r>
            <a:endParaRPr sz="3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400125" y="2256175"/>
            <a:ext cx="64965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 Edge-Based Weapon Detection and Secure Event Logging System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2797200" y="1971600"/>
            <a:ext cx="3549600" cy="12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1851900" y="2072900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edium"/>
                <a:ea typeface="Roboto Medium"/>
                <a:cs typeface="Roboto Medium"/>
                <a:sym typeface="Roboto Medium"/>
              </a:rPr>
              <a:t>Motivation</a:t>
            </a:r>
            <a:endParaRPr sz="3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4" name="Google Shape;74;p14" title="Mouse-Clicker-PNG-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175" y="2930300"/>
            <a:ext cx="948000" cy="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8801"/>
          <a:stretch/>
        </p:blipFill>
        <p:spPr>
          <a:xfrm>
            <a:off x="0" y="0"/>
            <a:ext cx="9144000" cy="52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0" y="0"/>
            <a:ext cx="9144000" cy="52122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23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259500" y="883596"/>
            <a:ext cx="55884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s" sz="2600">
                <a:solidFill>
                  <a:schemeClr val="lt1"/>
                </a:solidFill>
              </a:rPr>
              <a:t>Current Problems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13700" y="1831125"/>
            <a:ext cx="5190300" cy="2234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413700" y="1980530"/>
            <a:ext cx="78588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Traditional surveillance is reactive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Human monitoring is unreliable and slow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Cloud-based AI detection: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introduce latency,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connectivity issues,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 privacy concerns.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6"/>
          <p:cNvSpPr txBox="1"/>
          <p:nvPr/>
        </p:nvSpPr>
        <p:spPr>
          <a:xfrm>
            <a:off x="259500" y="790108"/>
            <a:ext cx="55884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s" sz="2600">
                <a:solidFill>
                  <a:schemeClr val="lt1"/>
                </a:solidFill>
              </a:rPr>
              <a:t>Why It Matters</a:t>
            </a:r>
            <a:endParaRPr b="1" sz="2600">
              <a:solidFill>
                <a:schemeClr val="lt1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13700" y="1814074"/>
            <a:ext cx="59208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●"/>
            </a:pPr>
            <a:r>
              <a:rPr lang="e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Firearms are now a leading cause of death among youth in the U.S.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●"/>
            </a:pPr>
            <a:r>
              <a:rPr lang="e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Faster detection can improve situational awareness and response time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007100" y="3724347"/>
            <a:ext cx="7129800" cy="980400"/>
          </a:xfrm>
          <a:prstGeom prst="roundRect">
            <a:avLst>
              <a:gd fmla="val 16667" name="adj"/>
            </a:avLst>
          </a:prstGeom>
          <a:solidFill>
            <a:srgbClr val="E0E0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110750" y="3854997"/>
            <a:ext cx="69225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EdgeSafe explores local detection as a faster and a more controlled alternative.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7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2797200" y="1971600"/>
            <a:ext cx="3549600" cy="12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type="ctrTitle"/>
          </p:nvPr>
        </p:nvSpPr>
        <p:spPr>
          <a:xfrm>
            <a:off x="1851900" y="2072900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ono"/>
                <a:ea typeface="Roboto Mono"/>
                <a:cs typeface="Roboto Mono"/>
                <a:sym typeface="Roboto Mono"/>
              </a:rPr>
              <a:t>Objectives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3" name="Google Shape;113;p17" title="Mouse-Clicker-PNG-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175" y="2930300"/>
            <a:ext cx="948000" cy="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555600"/>
            <a:ext cx="3757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Specific Objectives:</a:t>
            </a:r>
            <a:endParaRPr sz="2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19" name="Google Shape;119;p18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8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48075" y="1311300"/>
            <a:ext cx="6984600" cy="3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●"/>
            </a:pPr>
            <a:r>
              <a:rPr b="1"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Detection</a:t>
            </a:r>
            <a:endParaRPr b="1"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≥80% detection accuracy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≤1 second inference latency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●"/>
            </a:pPr>
            <a:r>
              <a:rPr b="1"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Automation</a:t>
            </a:r>
            <a:endParaRPr b="1"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Autonomous detection pipeline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Real-time result publishing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●"/>
            </a:pPr>
            <a:r>
              <a:rPr b="1"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Security</a:t>
            </a:r>
            <a:endParaRPr b="1"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HTTPS communication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Authenticated dashboard access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●"/>
            </a:pPr>
            <a:r>
              <a:rPr b="1"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Auditability</a:t>
            </a:r>
            <a:endParaRPr b="1"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Structured event logging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Consolas"/>
              <a:buChar char="○"/>
            </a:pPr>
            <a:r>
              <a:rPr lang="es" sz="15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Historical event retrieval</a:t>
            </a:r>
            <a:endParaRPr sz="1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130" name="Google Shape;130;p19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9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2038875" y="1971600"/>
            <a:ext cx="4995300" cy="12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>
            <p:ph type="ctrTitle"/>
          </p:nvPr>
        </p:nvSpPr>
        <p:spPr>
          <a:xfrm>
            <a:off x="1851900" y="2072900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ono"/>
                <a:ea typeface="Roboto Mono"/>
                <a:cs typeface="Roboto Mono"/>
                <a:sym typeface="Roboto Mono"/>
              </a:rPr>
              <a:t>Solution Approach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6" name="Google Shape;136;p19" title="Mouse-Clicker-PNG-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100" y="2846900"/>
            <a:ext cx="948000" cy="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879965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System Overview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0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311700" y="1713965"/>
            <a:ext cx="4009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Image input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Edge inference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Weapon detection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Event generation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Database logging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olas"/>
              <a:buAutoNum type="arabicPeriod"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Dashboard visualization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467" y="0"/>
            <a:ext cx="21066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330225" y="509725"/>
            <a:ext cx="4009500" cy="59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System Architecture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54" name="Google Shape;154;p21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1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708783" y="1183350"/>
            <a:ext cx="4009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Layout:</a:t>
            </a:r>
            <a:endParaRPr sz="16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1556952" y="1603280"/>
            <a:ext cx="5191800" cy="75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Presentation Layer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React/Vite dashboard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854400" y="2358980"/>
            <a:ext cx="3894600" cy="103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Application Layer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FastAPI backend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YOLO inference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Authentication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014941" y="3391880"/>
            <a:ext cx="2733900" cy="84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Data Layer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SQLite event logging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Image references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5063072" y="4308725"/>
            <a:ext cx="27339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nsolas"/>
              <a:buChar char="●"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NVIDIA Jetson Nano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555600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Detection Model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69" name="Google Shape;169;p22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2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311700" y="1311300"/>
            <a:ext cx="53007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YOLOv11 object-detection architecture (Ultralytics), chosen for its balance of speed and accuracy on edge devices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Transfer learning applied: pretrained weights fine-tuned on a firearm-specific dataset rather than training from scratch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Two candidate variants evaluated for deployment: YOLOv11n (nano) and YOLOv11s (small)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Models evaluated with standard object-detection metrics: precision, recall, F1-score, and mAP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Confidence-threshold tuning applied under a ≥90% precision constraint to minimize false alarms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2800" y="433700"/>
            <a:ext cx="1979150" cy="19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2800" y="2463300"/>
            <a:ext cx="1979150" cy="19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6198050" y="4564225"/>
            <a:ext cx="220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Dataset used: 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Kaggle </a:t>
            </a:r>
            <a:r>
              <a:rPr lang="es" sz="1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Gun Dataset YOLO v8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76573" y="787289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Backend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83" name="Google Shape;183;p23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3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376573" y="1667627"/>
            <a:ext cx="40095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FastAPI-based REST API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Structured JSON responses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Event retrieval endpoints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Error handling and validation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4653025" y="1525350"/>
            <a:ext cx="4009500" cy="22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SQLite local database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Detection metadata storage: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source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confidence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latency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image reference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Secure local storage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Traceability and auditability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23"/>
          <p:cNvSpPr txBox="1"/>
          <p:nvPr>
            <p:ph type="title"/>
          </p:nvPr>
        </p:nvSpPr>
        <p:spPr>
          <a:xfrm>
            <a:off x="4653025" y="633900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Event Logging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311700" y="555600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Dashboard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96" name="Google Shape;196;p24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4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311700" y="1389600"/>
            <a:ext cx="4009500" cy="19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React (Vite) dashboard displays system status and detection of events.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Event metadata display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Empty-state handling prevents dashboard from breaking even when no events are logged.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Dashboard retrieves event data directly from backend API endpoints.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24"/>
          <p:cNvSpPr txBox="1"/>
          <p:nvPr>
            <p:ph type="title"/>
          </p:nvPr>
        </p:nvSpPr>
        <p:spPr>
          <a:xfrm>
            <a:off x="4882850" y="555600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Authentication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4882850" y="1332000"/>
            <a:ext cx="38565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JWT tokens are used to protect backend routes.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Passwords are stored using bcrypt hashing.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Login page restricts access to authorized users only.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Authenticated sessions allow access to protected dashboard pages. 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209" name="Google Shape;209;p25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5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2038875" y="1971600"/>
            <a:ext cx="4995300" cy="12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type="ctrTitle"/>
          </p:nvPr>
        </p:nvSpPr>
        <p:spPr>
          <a:xfrm>
            <a:off x="1851900" y="2072900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ono"/>
                <a:ea typeface="Roboto Mono"/>
                <a:cs typeface="Roboto Mono"/>
                <a:sym typeface="Roboto Mono"/>
              </a:rPr>
              <a:t>Results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5" name="Google Shape;215;p25" title="Mouse-Clicker-PNG-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100" y="2846900"/>
            <a:ext cx="948000" cy="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555600"/>
            <a:ext cx="4260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Project Management and Documentation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21" name="Google Shape;221;p26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6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311700" y="1389600"/>
            <a:ext cx="4017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Trello </a:t>
            </a: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Task Board</a:t>
            </a: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 was used to itemize issues and tasks.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Git/GitHub was used to host repository and handle all source code.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Feature branches and Pull Requests supported team collaboration and code review.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Documentation was maintained throughout the project. Including: API documentation and project website containing project and member’s information.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2487"/>
          <a:stretch/>
        </p:blipFill>
        <p:spPr>
          <a:xfrm>
            <a:off x="4927175" y="512250"/>
            <a:ext cx="3366700" cy="21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 b="4476" l="1410" r="0" t="10584"/>
          <a:stretch/>
        </p:blipFill>
        <p:spPr>
          <a:xfrm>
            <a:off x="4927163" y="2850300"/>
            <a:ext cx="3366725" cy="18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311700" y="555600"/>
            <a:ext cx="4017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Backend, Database and API 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34" name="Google Shape;234;p27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7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11700" y="1389600"/>
            <a:ext cx="4017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Implemented Features: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FastAPI REST API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JSON event responses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Detection event retrieval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Error handling validation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10258"/>
          <a:stretch/>
        </p:blipFill>
        <p:spPr>
          <a:xfrm>
            <a:off x="5167975" y="1399387"/>
            <a:ext cx="3356625" cy="23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311700" y="555600"/>
            <a:ext cx="4009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Dashboard and Authentication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46" name="Google Shape;246;p28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8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311700" y="1389600"/>
            <a:ext cx="4009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The dashboard displays logged detection of events clearly.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The login page controls access to restricted dashboard areas. 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onsolas"/>
              <a:buChar char="●"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After login, the backend generates a JWT token for authenticated access to protected routes. 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This ensures only authorized users can access detection results and event logs. 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2" name="Google Shape;252;p28"/>
          <p:cNvPicPr preferRelativeResize="0"/>
          <p:nvPr/>
        </p:nvPicPr>
        <p:blipFill rotWithShape="1">
          <a:blip r:embed="rId3">
            <a:alphaModFix/>
          </a:blip>
          <a:srcRect b="12277" l="0" r="9755" t="9329"/>
          <a:stretch/>
        </p:blipFill>
        <p:spPr>
          <a:xfrm>
            <a:off x="4765100" y="815212"/>
            <a:ext cx="4017000" cy="21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 rotWithShape="1">
          <a:blip r:embed="rId4">
            <a:alphaModFix/>
          </a:blip>
          <a:srcRect b="28099" l="0" r="0" t="30149"/>
          <a:stretch/>
        </p:blipFill>
        <p:spPr>
          <a:xfrm>
            <a:off x="5327876" y="3322598"/>
            <a:ext cx="3144575" cy="155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574600"/>
            <a:ext cx="4009500" cy="5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Model Detection Performance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59" name="Google Shape;259;p29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9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64" name="Google Shape;264;p29"/>
          <p:cNvSpPr txBox="1"/>
          <p:nvPr>
            <p:ph idx="1" type="body"/>
          </p:nvPr>
        </p:nvSpPr>
        <p:spPr>
          <a:xfrm>
            <a:off x="-46325" y="1186250"/>
            <a:ext cx="4494900" cy="3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Both exceeded the 80% target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High precision yields a low false-positive rate, critical for maintaining operator trust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YOLOv11s achieved slightly higher recall and F1; YOLOv11n achieved higher precision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Both successfully detected and localized firearms in representative test imagery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Results confirm transfer learning produced a reliable detector under project constraints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5" name="Google Shape;2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098" y="1426550"/>
            <a:ext cx="4608052" cy="11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675" y="2855950"/>
            <a:ext cx="1487100" cy="20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311700" y="325700"/>
            <a:ext cx="4260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Testing Results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72" name="Google Shape;272;p30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0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181950" y="1227900"/>
            <a:ext cx="51561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On-device benchmark (Jetson Orin Nano):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YOLOv11n averaged 39.28 ms latency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~25× faster than the 1 s requirement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30/30 successful detections on the edge device with stable runtime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Live camera integration validated: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29 fps effective throughput, 0 dropped frames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End-to-end pipeline verified: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capture → inference → event → secure logging → dashboard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YOLOv11n selected as final deployment model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lowest latency, lowest variability, smallest footprint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Hardware constraint identified and mitigated: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908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nsolas"/>
              <a:buChar char="○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memory limit addressed via swap provisioning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8" name="Google Shape;2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363" y="3725400"/>
            <a:ext cx="3276200" cy="1253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375" y="288600"/>
            <a:ext cx="3094874" cy="33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cxnSp>
        <p:nvCxnSpPr>
          <p:cNvPr id="285" name="Google Shape;285;p31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1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1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2584050" y="1971600"/>
            <a:ext cx="3975900" cy="120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 txBox="1"/>
          <p:nvPr>
            <p:ph type="ctrTitle"/>
          </p:nvPr>
        </p:nvSpPr>
        <p:spPr>
          <a:xfrm>
            <a:off x="1851900" y="2072900"/>
            <a:ext cx="5440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Roboto Mono"/>
                <a:ea typeface="Roboto Mono"/>
                <a:cs typeface="Roboto Mono"/>
                <a:sym typeface="Roboto Mono"/>
              </a:rPr>
              <a:t>Conclusion</a:t>
            </a:r>
            <a:endParaRPr sz="36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1" name="Google Shape;291;p31" title="Mouse-Clicker-PNG-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425" y="2837650"/>
            <a:ext cx="948000" cy="9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Conclusions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97" name="Google Shape;297;p32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2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302" name="Google Shape;302;p32"/>
          <p:cNvSpPr txBox="1"/>
          <p:nvPr>
            <p:ph idx="1" type="body"/>
          </p:nvPr>
        </p:nvSpPr>
        <p:spPr>
          <a:xfrm>
            <a:off x="311700" y="1389600"/>
            <a:ext cx="7176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EdgeSafe demonstrates that responsible, real-time firearm detection is </a:t>
            </a:r>
            <a:r>
              <a:rPr b="1"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feasible on low-cost edge hardware</a:t>
            </a:r>
            <a:endParaRPr b="1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All core SMART objectives met: a</a:t>
            </a:r>
            <a:r>
              <a:rPr b="1"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ccuracy ≥80%, precision ≥90%, latency ≤1 s, secure auditable logging</a:t>
            </a:r>
            <a:endParaRPr b="1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Edge-first design delivers </a:t>
            </a:r>
            <a:r>
              <a:rPr b="1"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privacy, low latency, and offline resilience</a:t>
            </a: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: addressing the key gap in cloud-based solutions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b="1"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Live-camera stretch goal was achieved</a:t>
            </a: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, exceeding the original proof-of-concept scope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Limitation: single-semester proof-of-concept; 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nsolas"/>
              <a:buChar char="●"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Future work: extended reliability testing, multi-camera support, and full production deployment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Demo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08" name="Google Shape;308;p33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3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" name="Google Shape;317;p34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34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4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322" name="Google Shape;32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3" name="Google Shape;323;p34" title="EdgeSafe - Capstone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9447" y="573450"/>
            <a:ext cx="7105100" cy="3996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rPr>
              <a:t>Q&amp;A: 5 mins</a:t>
            </a:r>
            <a:endParaRPr sz="3600">
              <a:solidFill>
                <a:schemeClr val="l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29" name="Google Shape;329;p35"/>
          <p:cNvCxnSpPr/>
          <p:nvPr/>
        </p:nvCxnSpPr>
        <p:spPr>
          <a:xfrm>
            <a:off x="8892350" y="438750"/>
            <a:ext cx="3600" cy="4266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5"/>
          <p:cNvSpPr/>
          <p:nvPr/>
        </p:nvSpPr>
        <p:spPr>
          <a:xfrm>
            <a:off x="413700" y="325700"/>
            <a:ext cx="108000" cy="108000"/>
          </a:xfrm>
          <a:prstGeom prst="ellipse">
            <a:avLst/>
          </a:prstGeom>
          <a:solidFill>
            <a:srgbClr val="E64C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5"/>
          <p:cNvSpPr/>
          <p:nvPr/>
        </p:nvSpPr>
        <p:spPr>
          <a:xfrm>
            <a:off x="600770" y="325700"/>
            <a:ext cx="108000" cy="1080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5"/>
          <p:cNvSpPr/>
          <p:nvPr/>
        </p:nvSpPr>
        <p:spPr>
          <a:xfrm>
            <a:off x="787839" y="325700"/>
            <a:ext cx="108000" cy="108000"/>
          </a:xfrm>
          <a:prstGeom prst="ellipse">
            <a:avLst/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